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60" r:id="rId3"/>
    <p:sldId id="262" r:id="rId4"/>
    <p:sldId id="263" r:id="rId5"/>
    <p:sldId id="268" r:id="rId6"/>
    <p:sldId id="269" r:id="rId7"/>
    <p:sldId id="270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237959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61307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17626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380853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04292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342364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394161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259251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70441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348321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434729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943942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4170966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742292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676544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100690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255395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524663-F6C1-4FD9-AB61-7D324CEC77DA}" type="datetimeFigureOut">
              <a:rPr lang="en-FJ" smtClean="0"/>
              <a:t>16/10/2025</a:t>
            </a:fld>
            <a:endParaRPr lang="en-F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F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90057A-917D-4B36-ABAD-FF9B7E12C7CC}" type="slidenum">
              <a:rPr lang="en-FJ" smtClean="0"/>
              <a:t>‹#›</a:t>
            </a:fld>
            <a:endParaRPr lang="en-FJ"/>
          </a:p>
        </p:txBody>
      </p:sp>
    </p:spTree>
    <p:extLst>
      <p:ext uri="{BB962C8B-B14F-4D97-AF65-F5344CB8AC3E}">
        <p14:creationId xmlns:p14="http://schemas.microsoft.com/office/powerpoint/2010/main" val="251395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1ADF-D793-CCFF-689A-989054CCA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690880"/>
            <a:ext cx="4084320" cy="42468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CS241 </a:t>
            </a:r>
            <a:br>
              <a:rPr lang="en-US" dirty="0"/>
            </a:br>
            <a:r>
              <a:rPr lang="en-US" dirty="0"/>
              <a:t>Assignment 2 </a:t>
            </a:r>
            <a:br>
              <a:rPr lang="en-US" dirty="0"/>
            </a:br>
            <a:r>
              <a:rPr lang="en-US" dirty="0"/>
              <a:t>Demo</a:t>
            </a:r>
            <a:br>
              <a:rPr lang="en-US" sz="5400" dirty="0"/>
            </a:br>
            <a:br>
              <a:rPr lang="en-FJ" sz="5400" dirty="0"/>
            </a:br>
            <a:r>
              <a:rPr lang="en-US" sz="5400" dirty="0"/>
              <a:t> </a:t>
            </a:r>
            <a:endParaRPr lang="en-FJ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0C123-9B5C-48BF-614F-D98D724FEF97}"/>
              </a:ext>
            </a:extLst>
          </p:cNvPr>
          <p:cNvSpPr txBox="1"/>
          <p:nvPr/>
        </p:nvSpPr>
        <p:spPr>
          <a:xfrm>
            <a:off x="5872480" y="1024096"/>
            <a:ext cx="6096000" cy="360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900" lvl="0" indent="0" algn="l">
              <a:buNone/>
            </a:pPr>
            <a:r>
              <a:rPr lang="en-US" sz="2800" b="1" dirty="0"/>
              <a:t>Project Team: Group 14</a:t>
            </a:r>
          </a:p>
          <a:p>
            <a:pPr marL="36900" lvl="0" indent="0" algn="l">
              <a:buNone/>
            </a:pPr>
            <a:endParaRPr lang="en-US" sz="2400" dirty="0"/>
          </a:p>
          <a:p>
            <a:pPr marL="36900" lvl="0" indent="0" algn="l">
              <a:lnSpc>
                <a:spcPct val="150000"/>
              </a:lnSpc>
              <a:buNone/>
            </a:pPr>
            <a:r>
              <a:rPr lang="en-US" sz="2400" dirty="0"/>
              <a:t>Ranveer Singh (S11230141)</a:t>
            </a:r>
          </a:p>
          <a:p>
            <a:pPr marL="36900" lvl="0" indent="0" algn="l">
              <a:lnSpc>
                <a:spcPct val="150000"/>
              </a:lnSpc>
              <a:buNone/>
            </a:pPr>
            <a:r>
              <a:rPr lang="en-US" sz="2400" dirty="0"/>
              <a:t>Ronil Prasad (S11231541)  </a:t>
            </a:r>
          </a:p>
          <a:p>
            <a:pPr marL="36900" lvl="0" indent="0" algn="l">
              <a:lnSpc>
                <a:spcPct val="150000"/>
              </a:lnSpc>
              <a:buNone/>
            </a:pPr>
            <a:r>
              <a:rPr lang="en-US" sz="2400" dirty="0"/>
              <a:t>Shivan Prasad (S11231502) </a:t>
            </a:r>
          </a:p>
          <a:p>
            <a:pPr marL="36900" lvl="0" indent="0" algn="l">
              <a:lnSpc>
                <a:spcPct val="150000"/>
              </a:lnSpc>
              <a:buNone/>
            </a:pPr>
            <a:r>
              <a:rPr lang="en-US" sz="2400" dirty="0"/>
              <a:t>Mohammed Suhail (S11230995) </a:t>
            </a:r>
          </a:p>
          <a:p>
            <a:pPr marL="36900" lvl="0" indent="0" algn="l">
              <a:lnSpc>
                <a:spcPct val="150000"/>
              </a:lnSpc>
              <a:buNone/>
            </a:pPr>
            <a:r>
              <a:rPr lang="en-US" sz="2400" dirty="0"/>
              <a:t>Mohammed Afeef (S11229568</a:t>
            </a:r>
            <a:r>
              <a:rPr lang="en-US" dirty="0"/>
              <a:t>)</a:t>
            </a:r>
            <a:endParaRPr lang="en-FJ" dirty="0"/>
          </a:p>
        </p:txBody>
      </p:sp>
    </p:spTree>
    <p:extLst>
      <p:ext uri="{BB962C8B-B14F-4D97-AF65-F5344CB8AC3E}">
        <p14:creationId xmlns:p14="http://schemas.microsoft.com/office/powerpoint/2010/main" val="90794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DE34-97C5-1B5C-0A9D-D9348306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FJ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065D-7394-AC52-2FEA-3EDDE72A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685801"/>
            <a:ext cx="10495280" cy="5562600"/>
          </a:xfrm>
        </p:spPr>
        <p:txBody>
          <a:bodyPr>
            <a:normAutofit/>
          </a:bodyPr>
          <a:lstStyle/>
          <a:p>
            <a:r>
              <a:rPr lang="en-US" sz="2400" dirty="0"/>
              <a:t>Schools in Fiji face issues of data management like paperwork errors and inefficient marks and grades management</a:t>
            </a:r>
          </a:p>
          <a:p>
            <a:r>
              <a:rPr lang="en-US" sz="2400" dirty="0"/>
              <a:t>Our Solution to the issue is the Student Administration System (SAS) which is a web-based platform that can automate tasks for schools data management of teachers, administrator, parents and students. </a:t>
            </a:r>
          </a:p>
          <a:p>
            <a:r>
              <a:rPr lang="en-US" sz="2400" dirty="0"/>
              <a:t>Our system will provide real-time data access, reduce errors and provide a secure role-based access to it users that saves time and enhances productivity of the entire school.</a:t>
            </a:r>
          </a:p>
        </p:txBody>
      </p:sp>
    </p:spTree>
    <p:extLst>
      <p:ext uri="{BB962C8B-B14F-4D97-AF65-F5344CB8AC3E}">
        <p14:creationId xmlns:p14="http://schemas.microsoft.com/office/powerpoint/2010/main" val="3003388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7462-A268-90B6-F7F8-B6748820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02360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FJ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7CC4C2-18EA-DC06-885B-7EF42FFE9FC5}"/>
              </a:ext>
            </a:extLst>
          </p:cNvPr>
          <p:cNvSpPr/>
          <p:nvPr/>
        </p:nvSpPr>
        <p:spPr>
          <a:xfrm>
            <a:off x="1239520" y="2890520"/>
            <a:ext cx="211328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Presentation Layer  (View)</a:t>
            </a:r>
          </a:p>
          <a:p>
            <a:pPr algn="ctr"/>
            <a:r>
              <a:rPr lang="en-US" sz="1400" dirty="0"/>
              <a:t>What the user sees and interacts with.</a:t>
            </a:r>
            <a:endParaRPr lang="en-FJ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7A2941-B135-5E0A-A6ED-B585806E902B}"/>
              </a:ext>
            </a:extLst>
          </p:cNvPr>
          <p:cNvCxnSpPr>
            <a:stCxn id="4" idx="2"/>
          </p:cNvCxnSpPr>
          <p:nvPr/>
        </p:nvCxnSpPr>
        <p:spPr>
          <a:xfrm>
            <a:off x="2296160" y="3804920"/>
            <a:ext cx="0" cy="645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F0B44C-F1E3-1FB7-23FF-B3DDD51E3C88}"/>
              </a:ext>
            </a:extLst>
          </p:cNvPr>
          <p:cNvSpPr/>
          <p:nvPr/>
        </p:nvSpPr>
        <p:spPr>
          <a:xfrm>
            <a:off x="1328420" y="4450080"/>
            <a:ext cx="211328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Controller Layer </a:t>
            </a:r>
          </a:p>
          <a:p>
            <a:pPr algn="ctr"/>
            <a:r>
              <a:rPr lang="en-US" sz="1400" dirty="0"/>
              <a:t>The traffic cop and the request handler</a:t>
            </a:r>
            <a:endParaRPr lang="en-FJ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5979C2-78DE-9C85-D3C7-876665118636}"/>
              </a:ext>
            </a:extLst>
          </p:cNvPr>
          <p:cNvSpPr/>
          <p:nvPr/>
        </p:nvSpPr>
        <p:spPr>
          <a:xfrm>
            <a:off x="4688840" y="4480560"/>
            <a:ext cx="211328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Service  Layer  (Business Logic) </a:t>
            </a:r>
          </a:p>
          <a:p>
            <a:pPr algn="ctr"/>
            <a:r>
              <a:rPr lang="en-US" sz="1400" dirty="0"/>
              <a:t>Core application operation and function </a:t>
            </a:r>
            <a:endParaRPr lang="en-FJ" sz="1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723F8B-1069-1B18-1624-470BF8743A3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441700" y="4907280"/>
            <a:ext cx="1247140" cy="30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36EBA2-78AA-D573-16DA-28B03040BF77}"/>
              </a:ext>
            </a:extLst>
          </p:cNvPr>
          <p:cNvSpPr/>
          <p:nvPr/>
        </p:nvSpPr>
        <p:spPr>
          <a:xfrm>
            <a:off x="8239760" y="4480560"/>
            <a:ext cx="211328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Persistence  Layer </a:t>
            </a:r>
          </a:p>
          <a:p>
            <a:pPr algn="ctr"/>
            <a:r>
              <a:rPr lang="en-US" sz="1400" b="1" dirty="0"/>
              <a:t>(Data access gateway) </a:t>
            </a:r>
          </a:p>
          <a:p>
            <a:pPr algn="ctr"/>
            <a:r>
              <a:rPr lang="en-US" sz="1400" dirty="0"/>
              <a:t>Communication directly with the database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92B031-F173-7DA0-DF6C-051D11DE94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802120" y="4937760"/>
            <a:ext cx="1437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543AB74C-A700-443A-6052-AEDCB76297B0}"/>
              </a:ext>
            </a:extLst>
          </p:cNvPr>
          <p:cNvSpPr/>
          <p:nvPr/>
        </p:nvSpPr>
        <p:spPr>
          <a:xfrm>
            <a:off x="8696960" y="2407920"/>
            <a:ext cx="1198880" cy="914400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 </a:t>
            </a:r>
            <a:endParaRPr lang="en-FJ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1833B4-D987-DB73-B990-43BC1F6CD658}"/>
              </a:ext>
            </a:extLst>
          </p:cNvPr>
          <p:cNvCxnSpPr>
            <a:stCxn id="11" idx="0"/>
            <a:endCxn id="16" idx="3"/>
          </p:cNvCxnSpPr>
          <p:nvPr/>
        </p:nvCxnSpPr>
        <p:spPr>
          <a:xfrm flipV="1">
            <a:off x="9296400" y="3322320"/>
            <a:ext cx="0" cy="1158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68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79C8-7C08-C218-4BCC-014F975E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</a:t>
            </a:r>
            <a:endParaRPr lang="en-FJ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000A-234E-B00E-4470-93EE421D3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640" y="1788160"/>
            <a:ext cx="10192383" cy="4785359"/>
          </a:xfrm>
        </p:spPr>
        <p:txBody>
          <a:bodyPr>
            <a:normAutofit/>
          </a:bodyPr>
          <a:lstStyle/>
          <a:p>
            <a:r>
              <a:rPr lang="en-US" dirty="0"/>
              <a:t>Register Students and Teachers and create their accounts.</a:t>
            </a:r>
          </a:p>
          <a:p>
            <a:r>
              <a:rPr lang="en-US" dirty="0"/>
              <a:t>Role-based access for different users. </a:t>
            </a:r>
          </a:p>
          <a:p>
            <a:r>
              <a:rPr lang="en-US" dirty="0"/>
              <a:t>Assign teachers to classes and subjects.</a:t>
            </a:r>
          </a:p>
          <a:p>
            <a:r>
              <a:rPr lang="en-US" dirty="0"/>
              <a:t>Password Reset for student and teachers. </a:t>
            </a:r>
          </a:p>
          <a:p>
            <a:r>
              <a:rPr lang="en-US" dirty="0"/>
              <a:t>Update grades and attendance of students.</a:t>
            </a:r>
          </a:p>
          <a:p>
            <a:r>
              <a:rPr lang="en-US" dirty="0"/>
              <a:t>Update student information</a:t>
            </a:r>
            <a:endParaRPr lang="en-FJ" dirty="0"/>
          </a:p>
        </p:txBody>
      </p:sp>
    </p:spTree>
    <p:extLst>
      <p:ext uri="{BB962C8B-B14F-4D97-AF65-F5344CB8AC3E}">
        <p14:creationId xmlns:p14="http://schemas.microsoft.com/office/powerpoint/2010/main" val="417847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875F-33E4-C24F-6EA6-53A9A0B17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View of Student data</a:t>
            </a:r>
            <a:endParaRPr lang="en-FJ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A0A7DA-F3AC-FE2F-D7FD-F2C219A01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16" y="2182313"/>
            <a:ext cx="10585529" cy="447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4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AA95-1766-0FED-765A-6C111017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Teachers Dashboard</a:t>
            </a:r>
            <a:endParaRPr lang="en-FJ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D3E372-1CB4-20A8-F34B-32716D5E3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346" y="1939636"/>
            <a:ext cx="9051636" cy="4232564"/>
          </a:xfrm>
        </p:spPr>
      </p:pic>
    </p:spTree>
    <p:extLst>
      <p:ext uri="{BB962C8B-B14F-4D97-AF65-F5344CB8AC3E}">
        <p14:creationId xmlns:p14="http://schemas.microsoft.com/office/powerpoint/2010/main" val="333105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4BEC-4F16-9CB3-C20F-DABDBCE2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Dashboard</a:t>
            </a:r>
            <a:endParaRPr lang="en-FJ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FD373-6169-46CE-2B06-05719890E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067" y="1865746"/>
            <a:ext cx="9074224" cy="4396509"/>
          </a:xfrm>
        </p:spPr>
      </p:pic>
    </p:spTree>
    <p:extLst>
      <p:ext uri="{BB962C8B-B14F-4D97-AF65-F5344CB8AC3E}">
        <p14:creationId xmlns:p14="http://schemas.microsoft.com/office/powerpoint/2010/main" val="333248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2FDB-72BA-E68D-DCB3-E2065CBF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Integration </a:t>
            </a:r>
            <a:endParaRPr lang="en-FJ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850E8-0D06-7F38-A315-1D66E9ADF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30401"/>
            <a:ext cx="10018713" cy="3860800"/>
          </a:xfrm>
        </p:spPr>
        <p:txBody>
          <a:bodyPr/>
          <a:lstStyle/>
          <a:p>
            <a:r>
              <a:rPr lang="en-US" dirty="0"/>
              <a:t>Logical artifacts such as controller endpoints for students and teachers were tested using Top-Down Integration.</a:t>
            </a:r>
          </a:p>
          <a:p>
            <a:r>
              <a:rPr lang="en-US" dirty="0"/>
              <a:t>Operational artifacts such creating user accounts, assigning roles and resetting passwords were tested using Bottom-Up integration.</a:t>
            </a:r>
          </a:p>
          <a:p>
            <a:r>
              <a:rPr lang="en-US" dirty="0"/>
              <a:t> All functional artifacts were unit tested with various input to inspects its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endParaRPr lang="en-FJ" dirty="0"/>
          </a:p>
        </p:txBody>
      </p:sp>
    </p:spTree>
    <p:extLst>
      <p:ext uri="{BB962C8B-B14F-4D97-AF65-F5344CB8AC3E}">
        <p14:creationId xmlns:p14="http://schemas.microsoft.com/office/powerpoint/2010/main" val="159192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404D-68A1-011E-0331-4D193471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Learnt </a:t>
            </a:r>
            <a:endParaRPr lang="en-FJ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99881-9CB4-563E-DAA5-25469E40A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50473"/>
            <a:ext cx="10018713" cy="3740727"/>
          </a:xfrm>
        </p:spPr>
        <p:txBody>
          <a:bodyPr>
            <a:normAutofit/>
          </a:bodyPr>
          <a:lstStyle/>
          <a:p>
            <a:r>
              <a:rPr lang="en-US" b="1" dirty="0"/>
              <a:t>Divide into Modules</a:t>
            </a:r>
            <a:r>
              <a:rPr lang="en-US" dirty="0"/>
              <a:t>– Break the program into smaller parts so that when issues occur they can be solved without changes to the whole system.</a:t>
            </a:r>
          </a:p>
          <a:p>
            <a:r>
              <a:rPr lang="en-US" b="1" dirty="0"/>
              <a:t>Testing and Integration</a:t>
            </a:r>
            <a:r>
              <a:rPr lang="en-US" dirty="0"/>
              <a:t> – Test older components as new ones are added to the system to ensure integration.</a:t>
            </a:r>
          </a:p>
          <a:p>
            <a:br>
              <a:rPr lang="en-US" dirty="0"/>
            </a:br>
            <a:r>
              <a:rPr lang="en-US" b="1" dirty="0"/>
              <a:t>Plan and Schedule</a:t>
            </a:r>
            <a:r>
              <a:rPr lang="en-US" dirty="0"/>
              <a:t> – organize work and set deadlines for steady progress and meeting the requirements on time.</a:t>
            </a:r>
          </a:p>
        </p:txBody>
      </p:sp>
    </p:spTree>
    <p:extLst>
      <p:ext uri="{BB962C8B-B14F-4D97-AF65-F5344CB8AC3E}">
        <p14:creationId xmlns:p14="http://schemas.microsoft.com/office/powerpoint/2010/main" val="416900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291A-62D9-34C9-23ED-EBCA302D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 Sheet </a:t>
            </a:r>
            <a:endParaRPr lang="en-FJ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F4B380-163C-8D19-4FAC-CD40FF6FAA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643587"/>
              </p:ext>
            </p:extLst>
          </p:nvPr>
        </p:nvGraphicFramePr>
        <p:xfrm>
          <a:off x="1484313" y="2667000"/>
          <a:ext cx="10018712" cy="231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678">
                  <a:extLst>
                    <a:ext uri="{9D8B030D-6E8A-4147-A177-3AD203B41FA5}">
                      <a16:colId xmlns:a16="http://schemas.microsoft.com/office/drawing/2014/main" val="4029171927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944230676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1778479260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3601926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ID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Contribution</a:t>
                      </a:r>
                      <a:endParaRPr lang="en-FJ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57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Ranveer Singh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S11230141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Frontend/Backend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en-FJ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03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Ronil</a:t>
                      </a:r>
                      <a:r>
                        <a:rPr lang="en-US" sz="1800" dirty="0"/>
                        <a:t> Prasad 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S11231541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Frontend/Backend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20%</a:t>
                      </a:r>
                      <a:endParaRPr lang="en-FJ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8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Shivan Prasad 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S11231502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Frontend/Backend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en-FJ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60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Mohammed Suhail 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S11230995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Frontend/Backend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en-FJ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5898"/>
                  </a:ext>
                </a:extLst>
              </a:tr>
              <a:tr h="202796">
                <a:tc>
                  <a:txBody>
                    <a:bodyPr/>
                    <a:lstStyle/>
                    <a:p>
                      <a:pPr marL="36900" lv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/>
                        <a:t>Mohammed </a:t>
                      </a:r>
                      <a:r>
                        <a:rPr lang="en-US" sz="1800" dirty="0" err="1"/>
                        <a:t>Afeef</a:t>
                      </a:r>
                      <a:r>
                        <a:rPr lang="en-US" sz="1800" dirty="0"/>
                        <a:t> 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S11229568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Frontend/Backend</a:t>
                      </a:r>
                      <a:endParaRPr lang="en-FJ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en-FJ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163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403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2473-56DF-B173-6571-55D89C78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FJ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508B-5A46-F894-7A94-4190D1926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https://docs.spring.io/spring-boot/appendix/dependency-versions/index.html</a:t>
            </a:r>
            <a:endParaRPr lang="en-FJ" dirty="0"/>
          </a:p>
        </p:txBody>
      </p:sp>
    </p:spTree>
    <p:extLst>
      <p:ext uri="{BB962C8B-B14F-4D97-AF65-F5344CB8AC3E}">
        <p14:creationId xmlns:p14="http://schemas.microsoft.com/office/powerpoint/2010/main" val="225359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259</TotalTime>
  <Words>403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CS241  Assignment 2  Demo   </vt:lpstr>
      <vt:lpstr>Introduction </vt:lpstr>
      <vt:lpstr>System Architecture</vt:lpstr>
      <vt:lpstr>Features </vt:lpstr>
      <vt:lpstr>Admin View of Student data</vt:lpstr>
      <vt:lpstr>Teachers Dashboard</vt:lpstr>
      <vt:lpstr>Student Dashboard</vt:lpstr>
      <vt:lpstr>Testing and Integration </vt:lpstr>
      <vt:lpstr>Lessons Learnt </vt:lpstr>
      <vt:lpstr>Contribution Sheet 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Ranveer Singh</dc:creator>
  <cp:lastModifiedBy>Ranveer Singh</cp:lastModifiedBy>
  <cp:revision>4</cp:revision>
  <dcterms:created xsi:type="dcterms:W3CDTF">2025-10-15T23:43:49Z</dcterms:created>
  <dcterms:modified xsi:type="dcterms:W3CDTF">2025-10-16T10:00:56Z</dcterms:modified>
</cp:coreProperties>
</file>